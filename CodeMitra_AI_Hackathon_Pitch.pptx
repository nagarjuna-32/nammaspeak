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75320" y="1143000"/>
            <a:ext cx="3063240" cy="1234440"/>
          </a:xfrm>
          <a:prstGeom prst="round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85632" y="1444752"/>
            <a:ext cx="2651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Hey, naanu late aagthini!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2743200"/>
            <a:ext cx="2514600" cy="1024128"/>
          </a:xfrm>
          <a:prstGeom prst="roundRect">
            <a:avLst/>
          </a:prstGeom>
          <a:solidFill>
            <a:srgbClr val="1CA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25712" y="3026664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ನಾನು ತಡವಾಗಿ ಬರುತ್ತೇನೆ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87552"/>
            <a:ext cx="109728" cy="100584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32688"/>
            <a:ext cx="64008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CodeMitra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856231"/>
            <a:ext cx="65836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BED3F8"/>
                </a:solidFill>
                <a:latin typeface="Aptos"/>
              </a:rPr>
              <a:t>Making Kannada–English chat feel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88920"/>
            <a:ext cx="65836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fine-tuned Gemma assistant for everyday code-mixed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977639"/>
            <a:ext cx="1783080" cy="438912"/>
          </a:xfrm>
          <a:prstGeom prst="round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096512"/>
            <a:ext cx="1673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Kannada 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3977639"/>
            <a:ext cx="1783080" cy="438912"/>
          </a:xfrm>
          <a:prstGeom prst="roundRect">
            <a:avLst/>
          </a:prstGeom>
          <a:solidFill>
            <a:srgbClr val="1CA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4096512"/>
            <a:ext cx="1673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Romanized Kannada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9472" y="3977639"/>
            <a:ext cx="1783080" cy="438912"/>
          </a:xfrm>
          <a:prstGeom prst="roundRect">
            <a:avLst/>
          </a:prstGeom>
          <a:solidFill>
            <a:srgbClr val="55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6" y="4096512"/>
            <a:ext cx="1673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16636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ECADE"/>
                </a:solidFill>
                <a:latin typeface="Aptos"/>
              </a:rPr>
              <a:t>Hackathon project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CODEMITRA AI  •  KANNADA–ENGLISH CODE-MIXED LANGUAGE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ECA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21E37"/>
                </a:solidFill>
                <a:latin typeface="Aptos"/>
              </a:rPr>
              <a:t>The problem: people don't chat in just one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F6C82"/>
                </a:solidFill>
                <a:latin typeface="Aptos"/>
              </a:rPr>
              <a:t>Everyday messages mix English, Kannada words, scripts, and informal spelling.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69DC"/>
                </a:solidFill>
                <a:latin typeface="Aptos"/>
              </a:rPr>
              <a:t>TODAY'S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33472"/>
            <a:ext cx="4434840" cy="205740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Informal Romanized words can be ambiguous</a:t>
            </a:r>
          </a:p>
          <a:p>
            <a:pPr>
              <a:spcAft>
                <a:spcPts val="18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Literal translation may sound unnatural</a:t>
            </a:r>
          </a:p>
          <a:p>
            <a:pPr>
              <a:spcAft>
                <a:spcPts val="18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The requested script or style can be missed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AA9C"/>
                </a:solidFill>
                <a:latin typeface="Aptos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33472"/>
            <a:ext cx="4572000" cy="21945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Fine-tune Gemma on real code-mixed examples</a:t>
            </a:r>
          </a:p>
          <a:p>
            <a:pPr>
              <a:spcAft>
                <a:spcPts val="15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Convert between English, Kannada script, and Romanized Kannada</a:t>
            </a:r>
          </a:p>
          <a:p>
            <a:pPr>
              <a:spcAft>
                <a:spcPts val="1500"/>
              </a:spcAft>
              <a:defRPr sz="1800">
                <a:solidFill>
                  <a:srgbClr val="263042"/>
                </a:solidFill>
                <a:latin typeface="Aptos"/>
              </a:defRPr>
            </a:pPr>
            <a:r>
              <a:t>•  Keep the meaning and conversational 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50992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1E37"/>
                </a:solidFill>
                <a:latin typeface="Aptos"/>
              </a:rPr>
              <a:t>Goal: make language conversion fit the way people actually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C82"/>
                </a:solidFill>
                <a:latin typeface="Aptos"/>
              </a:rPr>
              <a:t>CODEMITRA AI  •  KANNADA–ENGLISH CODE-MIXED LANGUAGE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C8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21E37"/>
                </a:solidFill>
                <a:latin typeface="Aptos"/>
              </a:rPr>
              <a:t>How CodeMitra AI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7899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F6C82"/>
                </a:solidFill>
                <a:latin typeface="Aptos"/>
              </a:rPr>
              <a:t>A compact, measurable fine-tuning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920240" cy="2148840"/>
          </a:xfrm>
          <a:prstGeom prst="roundRect">
            <a:avLst/>
          </a:prstGeom>
          <a:solidFill>
            <a:srgbClr val="F2F6FC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438912" cy="384048"/>
          </a:xfrm>
          <a:prstGeom prst="roundRect">
            <a:avLst/>
          </a:prstGeom>
          <a:solidFill>
            <a:srgbClr val="30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32304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07792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E37"/>
                </a:solidFill>
                <a:latin typeface="Aptos"/>
              </a:rPr>
              <a:t>IndicCMix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C82"/>
                </a:solidFill>
                <a:latin typeface="Aptos"/>
              </a:rPr>
              <a:t>Kannada examples in four text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2148840"/>
            <a:ext cx="1920240" cy="2148840"/>
          </a:xfrm>
          <a:prstGeom prst="roundRect">
            <a:avLst/>
          </a:prstGeom>
          <a:solidFill>
            <a:srgbClr val="F2F6FC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512" y="2331720"/>
            <a:ext cx="438912" cy="384048"/>
          </a:xfrm>
          <a:prstGeom prst="roundRect">
            <a:avLst/>
          </a:prstGeom>
          <a:solidFill>
            <a:srgbClr val="1CA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432304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907792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E37"/>
                </a:solidFill>
                <a:latin typeface="Aptos"/>
              </a:rPr>
              <a:t>Prepare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401568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C82"/>
                </a:solidFill>
                <a:latin typeface="Aptos"/>
              </a:rPr>
              <a:t>Split first; build conversion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2148840"/>
            <a:ext cx="1920240" cy="2148840"/>
          </a:xfrm>
          <a:prstGeom prst="roundRect">
            <a:avLst/>
          </a:prstGeom>
          <a:solidFill>
            <a:srgbClr val="F2F6FC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2331720"/>
            <a:ext cx="438912" cy="384048"/>
          </a:xfrm>
          <a:prstGeom prst="roundRect">
            <a:avLst/>
          </a:prstGeom>
          <a:solidFill>
            <a:srgbClr val="7E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432304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907792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E37"/>
                </a:solidFill>
                <a:latin typeface="Aptos"/>
              </a:rPr>
              <a:t>LoRA fine-tune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3401568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C82"/>
                </a:solidFill>
                <a:latin typeface="Aptos"/>
              </a:rPr>
              <a:t>Adapt Gemma efficiently on a T4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2148840"/>
            <a:ext cx="1920240" cy="2148840"/>
          </a:xfrm>
          <a:prstGeom prst="roundRect">
            <a:avLst/>
          </a:prstGeom>
          <a:solidFill>
            <a:srgbClr val="F2F6FC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2331720"/>
            <a:ext cx="438912" cy="384048"/>
          </a:xfrm>
          <a:prstGeom prst="roundRect">
            <a:avLst/>
          </a:prstGeom>
          <a:solidFill>
            <a:srgbClr val="DC9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2432304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2907792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E37"/>
                </a:solidFill>
                <a:latin typeface="Aptos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3401568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C82"/>
                </a:solidFill>
                <a:latin typeface="Aptos"/>
              </a:rPr>
              <a:t>chrF + Kannada-speaker ratings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2148840"/>
            <a:ext cx="1920240" cy="2148840"/>
          </a:xfrm>
          <a:prstGeom prst="roundRect">
            <a:avLst/>
          </a:prstGeom>
          <a:solidFill>
            <a:srgbClr val="F2F6FC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93808" y="2331720"/>
            <a:ext cx="438912" cy="384048"/>
          </a:xfrm>
          <a:prstGeom prst="roundRect">
            <a:avLst/>
          </a:prstGeom>
          <a:solidFill>
            <a:srgbClr val="3E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12096" y="2432304"/>
            <a:ext cx="40233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2907792"/>
            <a:ext cx="1645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E37"/>
                </a:solidFill>
                <a:latin typeface="Aptos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401568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C82"/>
                </a:solidFill>
                <a:latin typeface="Aptos"/>
              </a:rPr>
              <a:t>Gradio app for live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2852928"/>
            <a:ext cx="274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5F6C82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852928"/>
            <a:ext cx="274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5F6C82"/>
                </a:solidFill>
                <a:latin typeface="Aptos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852928"/>
            <a:ext cx="274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5F6C82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2852928"/>
            <a:ext cx="274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5F6C82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92040"/>
            <a:ext cx="10332720" cy="822960"/>
          </a:xfrm>
          <a:prstGeom prst="roundRect">
            <a:avLst/>
          </a:prstGeom>
          <a:solidFill>
            <a:srgbClr val="12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48072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Fair comparison: same held-out test examples for plain, prompted, and fine-tuned Gemma.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F6C82"/>
                </a:solidFill>
                <a:latin typeface="Aptos"/>
              </a:rPr>
              <a:t>CODEMITRA AI  •  KANNADA–ENGLISH CODE-MIXED LANGUAGE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C8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What we will demonstrate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ED3F8"/>
                </a:solidFill>
                <a:latin typeface="Aptos"/>
              </a:rPr>
              <a:t>A live app — plus evidence that the model actually improved.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74920" cy="3429000"/>
          </a:xfrm>
          <a:prstGeom prst="roundRect">
            <a:avLst/>
          </a:prstGeom>
          <a:solidFill>
            <a:srgbClr val="1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21408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AA9C"/>
                </a:solidFill>
                <a:latin typeface="Aptos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06040"/>
            <a:ext cx="4343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Type a message → choose a format → convert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4251960" cy="141732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English</a:t>
            </a:r>
          </a:p>
          <a:p>
            <a:pPr>
              <a:spcAft>
                <a:spcPts val="9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Kannada script</a:t>
            </a:r>
          </a:p>
          <a:p>
            <a:pPr>
              <a:spcAft>
                <a:spcPts val="9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Romanized Kannada</a:t>
            </a:r>
          </a:p>
          <a:p>
            <a:pPr>
              <a:spcAft>
                <a:spcPts val="9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Code-mixed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66360" cy="3429000"/>
          </a:xfrm>
          <a:prstGeom prst="roundRect">
            <a:avLst/>
          </a:prstGeom>
          <a:solidFill>
            <a:srgbClr val="1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12140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B740"/>
                </a:solidFill>
                <a:latin typeface="Aptos"/>
              </a:rPr>
              <a:t>HOW WE MEASURE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633472"/>
            <a:ext cx="4434840" cy="214884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chrF score on unseen test examples</a:t>
            </a:r>
          </a:p>
          <a:p>
            <a:pPr>
              <a:spcAft>
                <a:spcPts val="13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Human ratings for naturalness and meaning</a:t>
            </a:r>
          </a:p>
          <a:p>
            <a:pPr>
              <a:spcAft>
                <a:spcPts val="13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Output-format accuracy and response speed</a:t>
            </a:r>
          </a:p>
          <a:p>
            <a:pPr>
              <a:spcAft>
                <a:spcPts val="1300"/>
              </a:spcAft>
              <a:defRPr sz="1600">
                <a:solidFill>
                  <a:srgbClr val="DEE6F4"/>
                </a:solidFill>
                <a:latin typeface="Aptos"/>
              </a:defRPr>
            </a:pPr>
            <a:r>
              <a:t>•  Error analysis: what improved and what did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Our promise: report measured results, not assumed improvements.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ECADE"/>
                </a:solidFill>
                <a:latin typeface="Aptos"/>
              </a:rPr>
              <a:t>CODEMITRA AI  •  KANNADA–ENGLISH CODE-MIXED LANGUAGE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ECAD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